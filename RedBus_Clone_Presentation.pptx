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4410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7315200" cy="96012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s" id="{BAC1763D-52FA-4D99-B74A-09978868D1D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Brand basics" id="{8EE32D32-E91A-427D-B680-3FF11AABE0B8}">
          <p14:sldIdLst/>
        </p14:section>
        <p14:section name="Content slides" id="{49CC7682-57B2-4455-BD9B-709563297FEE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6E4"/>
    <a:srgbClr val="F2F5E3"/>
    <a:srgbClr val="63666A"/>
    <a:srgbClr val="75787B"/>
    <a:srgbClr val="97999B"/>
    <a:srgbClr val="A7A8AA"/>
    <a:srgbClr val="BBBCBC"/>
    <a:srgbClr val="D0D0CE"/>
    <a:srgbClr val="007CB0"/>
    <a:srgbClr val="041E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 autoAdjust="0"/>
    <p:restoredTop sz="92603" autoAdjust="0"/>
  </p:normalViewPr>
  <p:slideViewPr>
    <p:cSldViewPr snapToGrid="0" showGuides="1">
      <p:cViewPr>
        <p:scale>
          <a:sx n="75" d="100"/>
          <a:sy n="75" d="100"/>
        </p:scale>
        <p:origin x="188" y="-108"/>
      </p:cViewPr>
      <p:guideLst/>
    </p:cSldViewPr>
  </p:slideViewPr>
  <p:outlineViewPr>
    <p:cViewPr>
      <p:scale>
        <a:sx n="33" d="100"/>
        <a:sy n="33" d="100"/>
      </p:scale>
      <p:origin x="0" y="-5919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1" d="100"/>
        <a:sy n="81" d="100"/>
      </p:scale>
      <p:origin x="0" y="0"/>
    </p:cViewPr>
  </p:sorterViewPr>
  <p:notesViewPr>
    <p:cSldViewPr snapToGrid="0" showGuides="1">
      <p:cViewPr varScale="1">
        <p:scale>
          <a:sx n="57" d="100"/>
          <a:sy n="57" d="100"/>
        </p:scale>
        <p:origin x="1992" y="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 smtClean="0">
                <a:latin typeface="Arial" panose="020B0604020202020204" pitchFamily="34" charset="0"/>
              </a:rPr>
              <a:t>6/30/2026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 smtClean="0"/>
              <a:pPr/>
              <a:t>6/30/2026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A2C8-6C88-4E71-83EE-698B9D4FE22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727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7.emf"/><Relationship Id="rId4" Type="http://schemas.openxmlformats.org/officeDocument/2006/relationships/oleObject" Target="../embeddings/oleObject2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7.emf"/><Relationship Id="rId4" Type="http://schemas.openxmlformats.org/officeDocument/2006/relationships/oleObject" Target="../embeddings/oleObject2.bin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7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7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7.emf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7.emf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7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7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7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7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7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7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7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7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7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7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7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7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7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7.emf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7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7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7.emf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7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7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4" Type="http://schemas.openxmlformats.org/officeDocument/2006/relationships/image" Target="../media/image7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4" Type="http://schemas.openxmlformats.org/officeDocument/2006/relationships/image" Target="../media/image7.emf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4" Type="http://schemas.openxmlformats.org/officeDocument/2006/relationships/image" Target="../media/image7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4" Type="http://schemas.openxmlformats.org/officeDocument/2006/relationships/image" Target="../media/image7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Relationship Id="rId4" Type="http://schemas.openxmlformats.org/officeDocument/2006/relationships/image" Target="../media/image7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Relationship Id="rId4" Type="http://schemas.openxmlformats.org/officeDocument/2006/relationships/image" Target="../media/image7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Relationship Id="rId4" Type="http://schemas.openxmlformats.org/officeDocument/2006/relationships/image" Target="../media/image7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Relationship Id="rId4" Type="http://schemas.openxmlformats.org/officeDocument/2006/relationships/image" Target="../media/image7.emf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 with tagline logo lockup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7FC5E484-EB26-0B50-B87A-799C320E83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B6970A4B-B432-0F69-C312-D57C3DF06C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692" y="-5031"/>
            <a:ext cx="2779773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0489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9C623ED-9A31-E94B-385F-DFBB34F5916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6FA620-B23E-0D62-CFAF-C7B1EE2DF1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1457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 with tagline logo lockup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9A09F874-9939-7788-F7E8-1E902B5632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315A3-99EF-FC55-DE24-58D79C1DD2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692" y="-5031"/>
            <a:ext cx="2779773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9876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F5BA9B-7574-E325-E1B5-3C428C7E4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38236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-Deloitte Green gradient with tagline logo lockup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25E4CF2D-5153-8731-E935-35A7550513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692" y="-5031"/>
            <a:ext cx="2779773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20248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99EDB7-3AF4-61F2-2C8B-4480E13D1A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310312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with tagline logo lockup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D417F91-0FD9-83FB-569A-B960E93D5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D97FD6-A665-B2C8-96D2-2FEF2679AA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617" y="-5031"/>
            <a:ext cx="2777922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42251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FB2FFE14-03CA-6135-58A2-5C311D36512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810F31-D882-A06D-7681-1B913A76EC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478856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 with tagline logo lockup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3F8A2FFF-A4B2-D935-C7DC-1DB5EDE4A7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590BD8-2D84-8179-A640-57E37904E6A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617" y="-5031"/>
            <a:ext cx="2777922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543470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BCB8175-C467-0B04-B004-47252C8E68C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BF294-5C31-F69F-426C-BF45033D4D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80063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 with tagline logo lockup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13732D-80FD-BC4D-437C-614EF3BEBF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617" y="-5031"/>
            <a:ext cx="2777922" cy="130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77561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CF98FE-74F2-7A89-9D1B-2E3424F331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513323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Full bleed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239FF85-CD49-BB35-3695-75C424AD973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</p:spTree>
    <p:extLst>
      <p:ext uri="{BB962C8B-B14F-4D97-AF65-F5344CB8AC3E}">
        <p14:creationId xmlns:p14="http://schemas.microsoft.com/office/powerpoint/2010/main" val="2125570879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Glow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0612E835-F4A9-E28C-C385-D7BF39346F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pic>
        <p:nvPicPr>
          <p:cNvPr id="4" name="Picture 3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45E3228C-6488-D962-AD57-9F2A5C58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aseCode">
            <a:extLst>
              <a:ext uri="{FF2B5EF4-FFF2-40B4-BE49-F238E27FC236}">
                <a16:creationId xmlns:a16="http://schemas.microsoft.com/office/drawing/2014/main" id="{731E6BB5-C9D1-E35B-D6D9-245F1063E86F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8B5B05F3-7BE5-74BC-C267-D563E5B2A301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82C802-4131-8DA8-7683-E68E2E309BA0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2671CB7-EA0F-58E4-4174-1D1922A3AB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3" name="CaseCode">
            <a:extLst>
              <a:ext uri="{FF2B5EF4-FFF2-40B4-BE49-F238E27FC236}">
                <a16:creationId xmlns:a16="http://schemas.microsoft.com/office/drawing/2014/main" id="{0A4EC9DF-8A5A-81C7-A2F0-1416E458E773}"/>
              </a:ext>
            </a:extLst>
          </p:cNvPr>
          <p:cNvSpPr txBox="1"/>
          <p:nvPr userDrawn="1"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0" name="Copyright">
            <a:extLst>
              <a:ext uri="{FF2B5EF4-FFF2-40B4-BE49-F238E27FC236}">
                <a16:creationId xmlns:a16="http://schemas.microsoft.com/office/drawing/2014/main" id="{76A3C83B-1E93-24DD-B4CF-4F673E59352B}"/>
              </a:ext>
            </a:extLst>
          </p:cNvPr>
          <p:cNvSpPr txBox="1"/>
          <p:nvPr userDrawn="1"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4CDE2B-37F4-6423-B520-C4665B2B512F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1424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United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56245C15-57A3-6DF3-1754-20E77EB5CA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D2CC364-3A56-4B32-F356-4C27AC2B9C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  <p:pic>
        <p:nvPicPr>
          <p:cNvPr id="3" name="Picture 2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BE3412DA-AF8A-F83F-A01C-B4141E94FD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4939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Code">
            <a:extLst>
              <a:ext uri="{FF2B5EF4-FFF2-40B4-BE49-F238E27FC236}">
                <a16:creationId xmlns:a16="http://schemas.microsoft.com/office/drawing/2014/main" id="{67FC27F4-B029-8F10-CF8E-13A946A025B5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89AEA1EB-B05E-844E-88AE-0B79DF479CCD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97C4E0-E9D0-9FCD-AFF6-A164148A4809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accent4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237997-F2A9-D664-587D-4BF3816A0D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accent4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95977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ADBA1BC3-DF0A-C7C2-54F8-FADB09EEDB7D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80879667-8E19-0A8A-570B-A31B8E1A0A23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51E4B-6F26-F51C-0F00-AA71F4B0CCCE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12CD58D-2BFB-3387-A814-C06828E88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437141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ADBA1BC3-DF0A-C7C2-54F8-FADB09EEDB7D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80879667-8E19-0A8A-570B-A31B8E1A0A23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51E4B-6F26-F51C-0F00-AA71F4B0CCCE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288D3C-20C4-200E-7A39-8253F3E6AD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accent4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162621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Deep Green">
    <p:bg bwMode="gray"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F684A669-26C5-90D5-704C-199677EB5DCB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007BB995-EE99-3880-DCE6-C93F71A128CE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1CC79A-BB5E-1920-0382-D1E9D54533B4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7582AB9-92F7-B2E5-BF9C-744E1F477F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9104156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ark-Bright gradient with tagline logo lockup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Code">
            <a:extLst>
              <a:ext uri="{FF2B5EF4-FFF2-40B4-BE49-F238E27FC236}">
                <a16:creationId xmlns:a16="http://schemas.microsoft.com/office/drawing/2014/main" id="{2FC75865-6F76-C54E-DF22-E2B4689596A8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D8129D5-9039-E8B3-5F13-E4574BC308FD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CBBC4D-3C0B-94BF-1ABE-F74D334FD22C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59336F-A28E-132F-AE15-43D8D49F2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2" name="CaseCode">
            <a:extLst>
              <a:ext uri="{FF2B5EF4-FFF2-40B4-BE49-F238E27FC236}">
                <a16:creationId xmlns:a16="http://schemas.microsoft.com/office/drawing/2014/main" id="{ED522F1A-76ED-9748-3E86-16A48ACAC575}"/>
              </a:ext>
            </a:extLst>
          </p:cNvPr>
          <p:cNvSpPr txBox="1"/>
          <p:nvPr userDrawn="1"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BCC36DE-11BE-ACD5-8C25-3380E547E1BC}"/>
              </a:ext>
            </a:extLst>
          </p:cNvPr>
          <p:cNvSpPr txBox="1"/>
          <p:nvPr userDrawn="1"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6A064D-8615-4934-CF57-1312C16D8F95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795905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Teal">
    <p:bg bwMode="gray"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Code">
            <a:extLst>
              <a:ext uri="{FF2B5EF4-FFF2-40B4-BE49-F238E27FC236}">
                <a16:creationId xmlns:a16="http://schemas.microsoft.com/office/drawing/2014/main" id="{1F8EA9CE-A4FD-7F07-8A19-61F161FECD5F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EFB2FD2C-2339-18D3-FE74-70FF8DBE712E}"/>
              </a:ext>
            </a:extLst>
          </p:cNvPr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2674E4-36E3-6473-BA52-EF41006ED287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accent4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4FDF0-825B-9D05-FCBA-CD50EF6CC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4762951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5F35D1E1-7A9C-AE7F-744F-00D2D0F343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070983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E1843C-9C47-5853-9CCF-75A6755EA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74225893"/>
      </p:ext>
    </p:extLst>
  </p:cSld>
  <p:clrMapOvr>
    <a:masterClrMapping/>
  </p:clrMapOvr>
  <p:transition>
    <p:fade/>
  </p:transition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96593EEB-1CDC-4080-8C11-602DEAE10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11191353"/>
      </p:ext>
    </p:extLst>
  </p:cSld>
  <p:clrMapOvr>
    <a:masterClrMapping/>
  </p:clrMapOvr>
  <p:transition>
    <p:fade/>
  </p:transition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567164D-98D6-14DE-1654-8043100211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03670467"/>
      </p:ext>
    </p:extLst>
  </p:cSld>
  <p:clrMapOvr>
    <a:masterClrMapping/>
  </p:clrMapOvr>
  <p:transition>
    <p:fade/>
  </p:transition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63DAA5C-077F-FE00-63CE-03BEF637C37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6929E50-6BC7-6A16-7F97-75FA3937A2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99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7824798"/>
      </p:ext>
    </p:extLst>
  </p:cSld>
  <p:clrMapOvr>
    <a:masterClrMapping/>
  </p:clrMapOvr>
  <p:transition>
    <p:fade/>
  </p:transition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ADD490B8-B418-78D3-2E0B-461A61F706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8333EA7F-716E-CA3B-831D-4E6ADC7C21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12974177"/>
      </p:ext>
    </p:extLst>
  </p:cSld>
  <p:clrMapOvr>
    <a:masterClrMapping/>
  </p:clrMapOvr>
  <p:transition>
    <p:fade/>
  </p:transition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8B191C74-910B-0CFC-9067-143443C4A2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9F0BB36C-DE52-CFD5-6483-3AF9FFFA10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551886"/>
      </p:ext>
    </p:extLst>
  </p:cSld>
  <p:clrMapOvr>
    <a:masterClrMapping/>
  </p:clrMapOvr>
  <p:transition>
    <p:fade/>
  </p:transition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B60B513-6C68-425A-86AC-3FC42F4B2B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9257AFC-2713-6B3B-F635-37B6D88CC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92734165"/>
      </p:ext>
    </p:extLst>
  </p:cSld>
  <p:clrMapOvr>
    <a:masterClrMapping/>
  </p:clrMapOvr>
  <p:transition>
    <p:fade/>
  </p:transition>
  <p:hf hd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67D2A86E-3485-4064-F11B-592641772D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E96810A4-9AE7-5408-F486-24386EEDA4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40467378"/>
      </p:ext>
    </p:extLst>
  </p:cSld>
  <p:clrMapOvr>
    <a:masterClrMapping/>
  </p:clrMapOvr>
  <p:transition>
    <p:fade/>
  </p:transition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362A436-16E9-8D92-CE75-CF090274A9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CE7ED7B-D3F7-0C2D-3D7F-23B03A315C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281788"/>
      </p:ext>
    </p:extLst>
  </p:cSld>
  <p:clrMapOvr>
    <a:masterClrMapping/>
  </p:clrMapOvr>
  <p:transition>
    <p:fade/>
  </p:transition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9870"/>
            <a:ext cx="8566108" cy="2169796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defRPr sz="800" b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807C35-870E-BE5C-3063-D65F3CF32E2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3F6F65-0FAE-13C5-4935-4F5D23290CA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567C3E-3181-DBCE-56F9-25416E4698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B50732A-3DE1-9BA2-E38D-3560C50CEF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957544"/>
      </p:ext>
    </p:extLst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BDCA0-170F-9CD6-736F-61D6DB7637DE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40349"/>
      </p:ext>
    </p:extLst>
  </p:cSld>
  <p:clrMapOvr>
    <a:masterClrMapping/>
  </p:clrMapOvr>
  <p:transition>
    <p:fade/>
  </p:transition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D6240FD-6CE9-5B73-7D7B-7F60C832531D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D61B36F7-4D66-A541-48A9-D4104A28F2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58DE312-1DB6-6A86-31A5-4DD91F4D29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C8AFF7-A1A4-8B8F-9682-D1150A2584E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149632"/>
      </p:ext>
    </p:extLst>
  </p:cSld>
  <p:clrMapOvr>
    <a:masterClrMapping/>
  </p:clrMapOvr>
  <p:transition>
    <p:fade/>
  </p:transition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115815"/>
      </p:ext>
    </p:extLst>
  </p:cSld>
  <p:clrMapOvr>
    <a:masterClrMapping/>
  </p:clrMapOvr>
  <p:transition>
    <p:fade/>
  </p:transition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9ADC3A-733E-B0C3-7E56-F3F1B58EF9C5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9427996"/>
      </p:ext>
    </p:extLst>
  </p:cSld>
  <p:clrMapOvr>
    <a:masterClrMapping/>
  </p:clrMapOvr>
  <p:transition>
    <p:fade/>
  </p:transition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9BAB5-7E18-7CA4-E491-CFBBC15D414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093857"/>
      </p:ext>
    </p:extLst>
  </p:cSld>
  <p:clrMapOvr>
    <a:masterClrMapping/>
  </p:clrMapOvr>
  <p:transition>
    <p:fade/>
  </p:transition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856A78-3545-9D7B-9B1D-9AE4F55FC8F3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38E7C72-C010-DA66-DF7D-35A25DD79F9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208F306-D5E9-9F07-9D03-6822787DE5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26C966-CA27-94D4-324B-5F76A1FC3EA0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0630551"/>
      </p:ext>
    </p:extLst>
  </p:cSld>
  <p:clrMapOvr>
    <a:masterClrMapping/>
  </p:clrMapOvr>
  <p:transition>
    <p:fade/>
  </p:transition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3C72F6-78BA-1C5C-0E41-3928DBA9B4D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779F49E-3102-B8AE-3214-0E5933FEBBA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36BED1F-8F10-CF1B-922C-6719E90171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74E6B2-A34D-D64D-6B7B-7A40DF2A7243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91653"/>
      </p:ext>
    </p:extLst>
  </p:cSld>
  <p:clrMapOvr>
    <a:masterClrMapping/>
  </p:clrMapOvr>
  <p:transition>
    <p:fade/>
  </p:transition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385F7-0E68-136E-49BA-D113551EF594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914466"/>
      </p:ext>
    </p:extLst>
  </p:cSld>
  <p:clrMapOvr>
    <a:masterClrMapping/>
  </p:clrMapOvr>
  <p:transition>
    <p:fade/>
  </p:transition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BDCA0-170F-9CD6-736F-61D6DB7637DE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339171"/>
      </p:ext>
    </p:extLst>
  </p:cSld>
  <p:clrMapOvr>
    <a:masterClrMapping/>
  </p:clrMapOvr>
  <p:transition>
    <p:fade/>
  </p:transition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D6240FD-6CE9-5B73-7D7B-7F60C832531D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D61B36F7-4D66-A541-48A9-D4104A28F2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58DE312-1DB6-6A86-31A5-4DD91F4D29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C8AFF7-A1A4-8B8F-9682-D1150A2584E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2568280"/>
      </p:ext>
    </p:extLst>
  </p:cSld>
  <p:clrMapOvr>
    <a:masterClrMapping/>
  </p:clrMapOvr>
  <p:transition>
    <p:fade/>
  </p:transition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727070"/>
      </p:ext>
    </p:extLst>
  </p:cSld>
  <p:clrMapOvr>
    <a:masterClrMapping/>
  </p:clrMapOvr>
  <p:transition>
    <p:fade/>
  </p:transition>
  <p:hf hd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9ADC3A-733E-B0C3-7E56-F3F1B58EF9C5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402337"/>
      </p:ext>
    </p:extLst>
  </p:cSld>
  <p:clrMapOvr>
    <a:masterClrMapping/>
  </p:clrMapOvr>
  <p:transition>
    <p:fade/>
  </p:transition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9BAB5-7E18-7CA4-E491-CFBBC15D414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648513"/>
      </p:ext>
    </p:extLst>
  </p:cSld>
  <p:clrMapOvr>
    <a:masterClrMapping/>
  </p:clrMapOvr>
  <p:transition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856A78-3545-9D7B-9B1D-9AE4F55FC8F3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38E7C72-C010-DA66-DF7D-35A25DD79F9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208F306-D5E9-9F07-9D03-6822787DE5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26C966-CA27-94D4-324B-5F76A1FC3EA0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2867221"/>
      </p:ext>
    </p:extLst>
  </p:cSld>
  <p:clrMapOvr>
    <a:masterClrMapping/>
  </p:clrMapOvr>
  <p:transition>
    <p:fade/>
  </p:transition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3C72F6-78BA-1C5C-0E41-3928DBA9B4D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779F49E-3102-B8AE-3214-0E5933FEBBA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36BED1F-8F10-CF1B-922C-6719E90171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74E6B2-A34D-D64D-6B7B-7A40DF2A7243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86694"/>
      </p:ext>
    </p:extLst>
  </p:cSld>
  <p:clrMapOvr>
    <a:masterClrMapping/>
  </p:clrMapOvr>
  <p:transition>
    <p:fade/>
  </p:transition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385F7-0E68-136E-49BA-D113551EF594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64808"/>
      </p:ext>
    </p:extLst>
  </p:cSld>
  <p:clrMapOvr>
    <a:masterClrMapping/>
  </p:clrMapOvr>
  <p:transition>
    <p:fade/>
  </p:transition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341A6448-2CDA-7D6D-F1A0-347696B21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25139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8D36622-3315-0885-4F7E-8CCDE0C2BA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3E8942A-B484-29A8-C101-63496BEA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588444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C36FB10-1EF5-A9A4-577D-A18DA4D1207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3236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36FB10-1EF5-A9A4-577D-A18DA4D120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FB46B341-3430-2348-6D11-485200BFA99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77579"/>
            <a:ext cx="11274552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F99282DB-7705-38D1-75C5-92BD76D91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F2C4463-3F55-0B57-ECFE-555C0A1782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762140600"/>
      </p:ext>
    </p:extLst>
  </p:cSld>
  <p:clrMapOvr>
    <a:masterClrMapping/>
  </p:clrMapOvr>
  <p:transition>
    <p:fade/>
  </p:transition>
  <p:hf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5E6F299-A818-CA93-A927-F61A877DA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1387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E6F299-A818-CA93-A927-F61A877DA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7579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D6FEAFF-2B74-1B3D-168E-42A9A695E1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2DF503BF-FE6C-E555-3A41-CFFD641471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5E59B36-2F4F-A0E8-D1A8-C198F28B171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9579" y="1677579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5469370"/>
      </p:ext>
    </p:extLst>
  </p:cSld>
  <p:clrMapOvr>
    <a:masterClrMapping/>
  </p:clrMapOvr>
  <p:transition>
    <p:fade/>
  </p:transition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2120E2-D6C2-D764-40A5-E97D481216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22964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2120E2-D6C2-D764-40A5-E97D481216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413E34D-A983-4D25-B3D7-D7643F60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F14D54C-54B5-CC50-7E64-122407456A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E9C8C-3361-2EBB-1420-4D27917305A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7048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CD594323-BB1E-32C6-75D1-37D1403739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93024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8649007"/>
      </p:ext>
    </p:extLst>
  </p:cSld>
  <p:clrMapOvr>
    <a:masterClrMapping/>
  </p:clrMapOvr>
  <p:transition>
    <p:fade/>
  </p:transition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AF0D7E5-2029-3151-0D44-92D925760B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31203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AF0D7E5-2029-3151-0D44-92D925760B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86DEB7A-2D80-0936-9E40-8E28EEB0EB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7F64B02-86CD-B81B-86B2-05391A92AC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9EE392B-1FEE-21B0-181D-C9962A3FE8E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32232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C71861D-BC3F-2DAD-BA49-86947F937CC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8744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D62757C-35E9-6C73-1638-E2D99D8D412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05256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6482776"/>
      </p:ext>
    </p:extLst>
  </p:cSld>
  <p:clrMapOvr>
    <a:masterClrMapping/>
  </p:clrMapOvr>
  <p:transition>
    <p:fade/>
  </p:transition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3E4C1F1A-C2FD-0E2E-2497-1640B8CFB7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239920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4C1F1A-C2FD-0E2E-2497-1640B8CFB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5352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45352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98040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0744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98040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54496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0000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8DB5DD3-41BE-3F94-9CAF-1C6AF307A27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100744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1" name="Title Placeholder 1">
            <a:extLst>
              <a:ext uri="{FF2B5EF4-FFF2-40B4-BE49-F238E27FC236}">
                <a16:creationId xmlns:a16="http://schemas.microsoft.com/office/drawing/2014/main" id="{7685A54B-009E-7531-D093-9C1E6AA6E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1F09F11E-B446-F54E-C136-D44C717D2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831862531"/>
      </p:ext>
    </p:extLst>
  </p:cSld>
  <p:clrMapOvr>
    <a:masterClrMapping/>
  </p:clrMapOvr>
  <p:transition>
    <p:fade/>
  </p:transition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A7C7A401-E3C4-4448-BB60-24DC9B089C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02339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C7A401-E3C4-4448-BB60-24DC9B089C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DFBE7610-ECB4-CA89-5B4C-9B0C6E8A570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6E7011BF-A32B-4689-4585-D2226C8A39D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78000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EB426A-016F-1B65-1168-FF2235F36C2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43CBCEE-6AB3-6F31-A1DF-F3F88E17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8D7B41BD-8ED5-299A-47F6-EACF78AFCB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E79773-3B23-90E9-4D48-A5FDB54800E7}"/>
              </a:ext>
            </a:extLst>
          </p:cNvPr>
          <p:cNvSpPr/>
          <p:nvPr/>
        </p:nvSpPr>
        <p:spPr>
          <a:xfrm>
            <a:off x="6245352" y="1677307"/>
            <a:ext cx="5508000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2B04A7-88BB-C053-00D5-6E084E746EAB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46306D7-050B-5308-5E5B-4221EF4A7F66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45352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DE0135C-F9C3-EE2B-FE85-1B28EA0EBB82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E80491-83AB-C6B3-9191-54EDF5F4418A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39258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340831"/>
      </p:ext>
    </p:extLst>
  </p:cSld>
  <p:clrMapOvr>
    <a:masterClrMapping/>
  </p:clrMapOvr>
  <p:transition>
    <p:fade/>
  </p:transition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7952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450"/>
              </a:spcAft>
              <a:defRPr sz="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ADCC45-3C19-3948-0E04-7130E1BB7E8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165AAD-CB29-40C9-DDB6-76BBE0FFB52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13067E-6C35-538A-0F4D-694ED960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730800F-FAB6-D47D-41C2-29C4D5E929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924" y="-4221"/>
            <a:ext cx="2551173" cy="10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235614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1" Type="http://schemas.openxmlformats.org/officeDocument/2006/relationships/image" Target="../media/image1.emf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ags" Target="../tags/tag2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59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0" imgW="270" imgH="270" progId="TCLayout.ActiveDocument.1">
                  <p:embed/>
                </p:oleObj>
              </mc:Choice>
              <mc:Fallback>
                <p:oleObj name="think-cell Slide" r:id="rId60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1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57200" y="345664"/>
            <a:ext cx="11274552" cy="34013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15" name="CaseCode"/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8" name="Copyright"/>
          <p:cNvSpPr txBox="1"/>
          <p:nvPr/>
        </p:nvSpPr>
        <p:spPr>
          <a:xfrm>
            <a:off x="457200" y="6519672"/>
            <a:ext cx="535516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Member firms and DTTL: Insert appropriate copyright</a:t>
            </a:r>
            <a:b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460093" y="1679602"/>
            <a:ext cx="11274552" cy="46619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rgbClr val="75787B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17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11" r:id="rId1"/>
    <p:sldLayoutId id="2147484412" r:id="rId2"/>
    <p:sldLayoutId id="2147484413" r:id="rId3"/>
    <p:sldLayoutId id="2147484414" r:id="rId4"/>
    <p:sldLayoutId id="2147484415" r:id="rId5"/>
    <p:sldLayoutId id="2147484416" r:id="rId6"/>
    <p:sldLayoutId id="2147484417" r:id="rId7"/>
    <p:sldLayoutId id="2147484418" r:id="rId8"/>
    <p:sldLayoutId id="2147484419" r:id="rId9"/>
    <p:sldLayoutId id="2147484420" r:id="rId10"/>
    <p:sldLayoutId id="2147484421" r:id="rId11"/>
    <p:sldLayoutId id="2147484422" r:id="rId12"/>
    <p:sldLayoutId id="2147484423" r:id="rId13"/>
    <p:sldLayoutId id="2147484424" r:id="rId14"/>
    <p:sldLayoutId id="2147484425" r:id="rId15"/>
    <p:sldLayoutId id="2147484426" r:id="rId16"/>
    <p:sldLayoutId id="2147484427" r:id="rId17"/>
    <p:sldLayoutId id="2147484428" r:id="rId18"/>
    <p:sldLayoutId id="2147484429" r:id="rId19"/>
    <p:sldLayoutId id="2147484430" r:id="rId20"/>
    <p:sldLayoutId id="2147484431" r:id="rId21"/>
    <p:sldLayoutId id="2147484432" r:id="rId22"/>
    <p:sldLayoutId id="2147484433" r:id="rId23"/>
    <p:sldLayoutId id="2147484434" r:id="rId24"/>
    <p:sldLayoutId id="2147484435" r:id="rId25"/>
    <p:sldLayoutId id="2147484436" r:id="rId26"/>
    <p:sldLayoutId id="2147484437" r:id="rId27"/>
    <p:sldLayoutId id="2147484438" r:id="rId28"/>
    <p:sldLayoutId id="2147484439" r:id="rId29"/>
    <p:sldLayoutId id="2147484440" r:id="rId30"/>
    <p:sldLayoutId id="2147484441" r:id="rId31"/>
    <p:sldLayoutId id="2147484442" r:id="rId32"/>
    <p:sldLayoutId id="2147484443" r:id="rId33"/>
    <p:sldLayoutId id="2147484444" r:id="rId34"/>
    <p:sldLayoutId id="2147484445" r:id="rId35"/>
    <p:sldLayoutId id="2147484446" r:id="rId36"/>
    <p:sldLayoutId id="2147484447" r:id="rId37"/>
    <p:sldLayoutId id="2147484448" r:id="rId38"/>
    <p:sldLayoutId id="2147484449" r:id="rId39"/>
    <p:sldLayoutId id="2147484450" r:id="rId40"/>
    <p:sldLayoutId id="2147484460" r:id="rId41"/>
    <p:sldLayoutId id="2147484461" r:id="rId42"/>
    <p:sldLayoutId id="2147484462" r:id="rId43"/>
    <p:sldLayoutId id="2147484463" r:id="rId44"/>
    <p:sldLayoutId id="2147484464" r:id="rId45"/>
    <p:sldLayoutId id="2147484465" r:id="rId46"/>
    <p:sldLayoutId id="2147484466" r:id="rId47"/>
    <p:sldLayoutId id="2147484467" r:id="rId48"/>
    <p:sldLayoutId id="2147484451" r:id="rId49"/>
    <p:sldLayoutId id="2147484452" r:id="rId50"/>
    <p:sldLayoutId id="2147484453" r:id="rId51"/>
    <p:sldLayoutId id="2147484454" r:id="rId52"/>
    <p:sldLayoutId id="2147484455" r:id="rId53"/>
    <p:sldLayoutId id="2147484456" r:id="rId54"/>
    <p:sldLayoutId id="2147484457" r:id="rId55"/>
    <p:sldLayoutId id="2147484458" r:id="rId56"/>
    <p:sldLayoutId id="2147484459" r:id="rId57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Aptos" panose="020B0004020202020204" pitchFamily="34" charset="0"/>
          <a:ea typeface="+mj-ea"/>
          <a:cs typeface="Calibri Light" panose="020F030202020403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5" pos="3936" userDrawn="1">
          <p15:clr>
            <a:srgbClr val="F26B43"/>
          </p15:clr>
        </p15:guide>
        <p15:guide id="96" orient="horz" pos="4008" userDrawn="1">
          <p15:clr>
            <a:srgbClr val="F26B43"/>
          </p15:clr>
        </p15:guide>
        <p15:guide id="97" orient="horz" pos="4104" userDrawn="1">
          <p15:clr>
            <a:srgbClr val="F26B43"/>
          </p15:clr>
        </p15:guide>
        <p15:guide id="98" orient="horz" pos="1056" userDrawn="1">
          <p15:clr>
            <a:srgbClr val="F26B43"/>
          </p15:clr>
        </p15:guide>
        <p15:guide id="99" pos="3840" userDrawn="1">
          <p15:clr>
            <a:srgbClr val="F26B43"/>
          </p15:clr>
        </p15:guide>
        <p15:guide id="100" pos="7392" userDrawn="1">
          <p15:clr>
            <a:srgbClr val="F26B43"/>
          </p15:clr>
        </p15:guide>
        <p15:guide id="101" orient="horz" pos="216" userDrawn="1">
          <p15:clr>
            <a:srgbClr val="F26B43"/>
          </p15:clr>
        </p15:guide>
        <p15:guide id="102" orient="horz" pos="432" userDrawn="1">
          <p15:clr>
            <a:srgbClr val="F26B43"/>
          </p15:clr>
        </p15:guide>
        <p15:guide id="103" pos="288" userDrawn="1">
          <p15:clr>
            <a:srgbClr val="F26B43"/>
          </p15:clr>
        </p15:guide>
        <p15:guide id="104" pos="37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400" dirty="0">
                <a:latin typeface="Aptos"/>
              </a:rPr>
              <a:t>RedBus </a:t>
            </a:r>
            <a:r>
              <a:rPr lang="en-US" sz="2400" dirty="0">
                <a:latin typeface="Aptos"/>
              </a:rPr>
              <a:t>as a</a:t>
            </a:r>
            <a:r>
              <a:rPr sz="2400" dirty="0">
                <a:latin typeface="Aptos"/>
              </a:rPr>
              <a:t> Bus Ticket Booking Platform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z="1000" dirty="0">
                <a:latin typeface="Aptos"/>
              </a:rPr>
              <a:t>Scalable REST API  ·  Spring Boot 3.2  </a:t>
            </a:r>
            <a:r>
              <a:rPr lang="en-US" sz="1000" dirty="0">
                <a:latin typeface="Aptos"/>
              </a:rPr>
              <a:t>.</a:t>
            </a:r>
            <a:r>
              <a:rPr sz="1000" dirty="0">
                <a:latin typeface="Aptos"/>
              </a:rPr>
              <a:t>  Java 17  ·  MySQL + Redis  ·  June 2026</a:t>
            </a:r>
          </a:p>
        </p:txBody>
      </p:sp>
      <p:pic>
        <p:nvPicPr>
          <p:cNvPr id="4" name="Picture Placeholder 3" descr="GettyImages-1148091793.jp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21875" r="21875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>
                <a:latin typeface="Aptos"/>
              </a:rPr>
              <a:t>Project Overview  ·  Business Problem  ·  Solution Approach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A unified booking API eliminates fragmented, unsafe bus reservation experiences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365760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WHAT IS REDBUS CLONE?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2029968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6A38"/>
                </a:solidFill>
                <a:latin typeface="Aptos"/>
              </a:rPr>
              <a:t>Production-ready REST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56816"/>
            <a:ext cx="2999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Modeled after RedBus.com, built on Spring Boot 3.2 / Java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2450592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2377440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6A38"/>
                </a:solidFill>
                <a:latin typeface="Aptos"/>
              </a:rPr>
              <a:t>For Passengers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3744" y="2377440"/>
            <a:ext cx="2999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Search buses, block seats (10-min hold), book, view history, cancel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2871216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798064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6A38"/>
                </a:solidFill>
                <a:latin typeface="Aptos"/>
              </a:rPr>
              <a:t>For Administrators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2798064"/>
            <a:ext cx="29992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Manage full bus fleet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are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add, update, delete buses and routes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291840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" y="3218688"/>
            <a:ext cx="1828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6A38"/>
                </a:solidFill>
                <a:latin typeface="Aptos"/>
              </a:rPr>
              <a:t>Fully stateless &amp; secure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3744" y="3218688"/>
            <a:ext cx="2999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JWT auth, Redis caching, MySQL persistence, BCrypt passwords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0752"/>
            <a:ext cx="5212080" cy="365760"/>
          </a:xfrm>
          <a:prstGeom prst="roundRect">
            <a:avLst/>
          </a:prstGeom>
          <a:solidFill>
            <a:srgbClr val="1C3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3504" y="3803904"/>
            <a:ext cx="49194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Aptos"/>
              </a:rPr>
              <a:t>Stack: Spring Boot 3.2 · Java 17 · MySQL 8 · Redis · JWT (HS256) · Actuator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1554480"/>
            <a:ext cx="45720" cy="4206240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07024" y="1554480"/>
            <a:ext cx="5824728" cy="365760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53328" y="160020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THE CHALLENGE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16752" y="2011680"/>
            <a:ext cx="54864" cy="14630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63056" y="1956816"/>
            <a:ext cx="5486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Manual bookings  no real-time seat availability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16752" y="2377440"/>
            <a:ext cx="54864" cy="14630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63056" y="23225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Double-booking risk on shared seats under concurrent traffic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16752" y="2743200"/>
            <a:ext cx="54864" cy="14630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63056" y="2688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No auto-release when users abandon incomplete bookings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16752" y="3108960"/>
            <a:ext cx="54864" cy="14630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63056" y="3054096"/>
            <a:ext cx="5486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Fragmented validation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are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poor passenger data quality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07024" y="3456432"/>
            <a:ext cx="5824728" cy="36576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53328" y="3502151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THE SOLUTION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16752" y="3931920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63056" y="387705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Live MySQL availability with unique seat constraint per bus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16752" y="4297680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63056" y="424281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DB-level UNIQUE(busId, seatNumber) prevents any duplicate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4663440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63056" y="46085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Scheduler releases unconfirmed holds every 60 seconds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16752" y="5029200"/>
            <a:ext cx="54864" cy="14630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63056" y="4974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CentralizedValidator: mobile, DOB, email, password rules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A four-tier layered architecture backed by an enterprise Java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82496"/>
            <a:ext cx="2011680" cy="4937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8013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CLIENT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1682496"/>
            <a:ext cx="9217152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70048" y="1792224"/>
            <a:ext cx="8961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Web / Mobile REST consumers  </a:t>
            </a:r>
            <a:r>
              <a:rPr lang="en-US" sz="1000" b="0" i="0" dirty="0">
                <a:solidFill>
                  <a:srgbClr val="53565A"/>
                </a:solidFill>
                <a:latin typeface="Aptos"/>
              </a:rPr>
              <a:t>-&gt;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 HTTP / HTTPS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73152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231136"/>
            <a:ext cx="2011680" cy="49377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235000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SECURITY FILTER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231136"/>
            <a:ext cx="9217152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70048" y="2340864"/>
            <a:ext cx="8961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53565A"/>
                </a:solidFill>
                <a:latin typeface="Aptos"/>
              </a:rPr>
              <a:t>JwtAuthFilter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validates Bearer tokens on every request · Spring Security role guards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2724912"/>
            <a:ext cx="73152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2779776"/>
            <a:ext cx="2011680" cy="49377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89864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APPLICATION 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14600" y="2779776"/>
            <a:ext cx="9217152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0048" y="2889504"/>
            <a:ext cx="8961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Controllers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-&gt; 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Services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-&gt;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Repositories · Background Scheduler (seat expiry)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3273552"/>
            <a:ext cx="73152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3328416"/>
            <a:ext cx="2011680" cy="49377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344728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DATA TIER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328416"/>
            <a:ext cx="9217152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70048" y="3438144"/>
            <a:ext cx="8961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MySQL 8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are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5 tables · Redis /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Memurai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are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6 cache regions with per-region TTL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86784"/>
            <a:ext cx="11274552" cy="365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05993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TECHNOLOGY STACK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15968"/>
            <a:ext cx="3547872" cy="329184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389120"/>
            <a:ext cx="33649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Backend &amp; Build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645152"/>
            <a:ext cx="354787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718304"/>
            <a:ext cx="336499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Java 17  ·  Spring Boot 3.2.0  ·  Maven 3.8+  ·  Lombok  ·  Jackson JSR310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4315968"/>
            <a:ext cx="3547872" cy="32918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24527" y="4389120"/>
            <a:ext cx="33649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Data &amp; Caching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3087" y="4645152"/>
            <a:ext cx="354787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24527" y="4718304"/>
            <a:ext cx="336499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MySQL 8 </a:t>
            </a:r>
            <a:r>
              <a:rPr lang="en-US" sz="1000" b="0" i="0" dirty="0">
                <a:solidFill>
                  <a:srgbClr val="53565A"/>
                </a:solidFill>
                <a:latin typeface="Aptos"/>
              </a:rPr>
              <a:t>+ 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·  Spring Data JPA  ·  Hibernate  ·  Redis / Memurai  ·  Spring Cache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08975" y="4315968"/>
            <a:ext cx="3547872" cy="32918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00415" y="4389120"/>
            <a:ext cx="33649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Security &amp; Monitoring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08975" y="4645152"/>
            <a:ext cx="354787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00415" y="4718304"/>
            <a:ext cx="336499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Spring Security  ·  JWT JJWT 0.12.3  ·  BCryptPasswordEncoder  ·  Spring Boot Actuator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24144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999B"/>
                </a:solidFill>
                <a:latin typeface="Aptos"/>
              </a:rPr>
              <a:t>Architecture and stack â€” Deloitte analysis of source code (pom.xml, application.properties)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>
                <a:latin typeface="Aptos"/>
              </a:rPr>
              <a:t>User Management  ·  Bus Search  ·  Seat Booking Flow  ·  Booking Management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Four core modules cover the complete bus-booking lifecycle</a:t>
            </a:r>
          </a:p>
        </p:txBody>
      </p:sp>
      <p:sp>
        <p:nvSpPr>
          <p:cNvPr id="4" name="Oval 3"/>
          <p:cNvSpPr/>
          <p:nvPr/>
        </p:nvSpPr>
        <p:spPr>
          <a:xfrm>
            <a:off x="1563624" y="1554480"/>
            <a:ext cx="475488" cy="475488"/>
          </a:xfrm>
          <a:prstGeom prst="ellipse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6883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6BC25"/>
                </a:solidFill>
                <a:latin typeface="Aptos"/>
              </a:rPr>
              <a:t>User
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96896"/>
            <a:ext cx="2688336" cy="16824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85216" y="2770632"/>
            <a:ext cx="64008" cy="13716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Register with full input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3136391"/>
            <a:ext cx="64008" cy="13716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072384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Sign in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-&gt;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JWT token (3600s expiry)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" y="3502151"/>
            <a:ext cx="64008" cy="13716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438144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Sign out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-&gt;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token blacklisted instantly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" y="3867912"/>
            <a:ext cx="64008" cy="13716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80390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BCrypt password hashing throughout</a:t>
            </a:r>
          </a:p>
        </p:txBody>
      </p:sp>
      <p:sp>
        <p:nvSpPr>
          <p:cNvPr id="15" name="Oval 14"/>
          <p:cNvSpPr/>
          <p:nvPr/>
        </p:nvSpPr>
        <p:spPr>
          <a:xfrm>
            <a:off x="4425696" y="1554480"/>
            <a:ext cx="475488" cy="475488"/>
          </a:xfrm>
          <a:prstGeom prst="ellipse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2103120"/>
            <a:ext cx="26883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8390"/>
                </a:solidFill>
                <a:latin typeface="Aptos"/>
              </a:rPr>
              <a:t>Bus Search
&amp; Browse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9272" y="2596896"/>
            <a:ext cx="2688336" cy="16824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447288" y="2770632"/>
            <a:ext cx="64008" cy="137160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591" y="270662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Search by from / to / travel 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47288" y="3136391"/>
            <a:ext cx="64008" cy="137160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3591" y="307238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Results cached in Redis (15 min TTL)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502151"/>
            <a:ext cx="64008" cy="137160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93591" y="343814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Reduces DB load on repeated queries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47288" y="3867912"/>
            <a:ext cx="64008" cy="137160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93591" y="380390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Returns available seat count per bus</a:t>
            </a:r>
          </a:p>
        </p:txBody>
      </p:sp>
      <p:sp>
        <p:nvSpPr>
          <p:cNvPr id="26" name="Oval 25"/>
          <p:cNvSpPr/>
          <p:nvPr/>
        </p:nvSpPr>
        <p:spPr>
          <a:xfrm>
            <a:off x="7287768" y="1554480"/>
            <a:ext cx="475488" cy="475488"/>
          </a:xfrm>
          <a:prstGeom prst="ellipse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03120"/>
            <a:ext cx="26883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890D"/>
                </a:solidFill>
                <a:latin typeface="Aptos"/>
              </a:rPr>
              <a:t>Seat Booking
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1344" y="2596896"/>
            <a:ext cx="2688336" cy="16824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309359" y="2770632"/>
            <a:ext cx="64008" cy="137160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55664" y="2706624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Block seat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-&gt;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10-minute hold window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59" y="3136391"/>
            <a:ext cx="64008" cy="137160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55664" y="307238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Submit passenger details to confirm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59" y="3502151"/>
            <a:ext cx="64008" cy="137160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5664" y="343814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Auto-release scheduler every 60 sec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3867912"/>
            <a:ext cx="64008" cy="137160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380390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UNIQUE(busId, seatNumber) prevents doubles</a:t>
            </a:r>
          </a:p>
        </p:txBody>
      </p:sp>
      <p:sp>
        <p:nvSpPr>
          <p:cNvPr id="37" name="Oval 36"/>
          <p:cNvSpPr/>
          <p:nvPr/>
        </p:nvSpPr>
        <p:spPr>
          <a:xfrm>
            <a:off x="10158984" y="1554480"/>
            <a:ext cx="475488" cy="475488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103120"/>
            <a:ext cx="26883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5587"/>
                </a:solidFill>
                <a:latin typeface="Aptos"/>
              </a:rPr>
              <a:t>Booking
Management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2596896"/>
            <a:ext cx="2688336" cy="16824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180576" y="2770632"/>
            <a:ext cx="64008" cy="137160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0" y="270662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View full history per authenticated user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0576" y="3136391"/>
            <a:ext cx="64008" cy="137160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0" y="307238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Cancel ticket via DELETE endpoint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0576" y="3502151"/>
            <a:ext cx="64008" cy="137160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0" y="343814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@Transactional: atomic seat release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0576" y="3867912"/>
            <a:ext cx="64008" cy="137160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26880" y="3803904"/>
            <a:ext cx="2340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Available count restored on cancellation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4480559"/>
            <a:ext cx="11274552" cy="402336"/>
          </a:xfrm>
          <a:prstGeom prst="roundRect">
            <a:avLst/>
          </a:prstGeom>
          <a:solidFill>
            <a:srgbClr val="1C3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" y="4571999"/>
            <a:ext cx="10908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Key Differentiator: Automated seat-hold expiry + atomic cancellations enable safe concurrent real-world traffic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Stateless JWT security and 15 role-guarded endpoints protect every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JWT SECURITY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82496"/>
            <a:ext cx="329184" cy="4937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4632" y="1810512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475488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173736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6BC25"/>
                </a:solidFill>
                <a:latin typeface="Aptos"/>
              </a:rPr>
              <a:t>Sign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737360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Email + password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at 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BCrypt verify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76272"/>
            <a:ext cx="54864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2231136"/>
            <a:ext cx="329184" cy="49377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2359152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231136"/>
            <a:ext cx="475488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228600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6890D"/>
                </a:solidFill>
                <a:latin typeface="Aptos"/>
              </a:rPr>
              <a:t>Token Issued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286000"/>
            <a:ext cx="3218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HS256 JWT with userId + role, 3600s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724912"/>
            <a:ext cx="54864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2779776"/>
            <a:ext cx="329184" cy="49377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2907792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2779776"/>
            <a:ext cx="475488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9264" y="283464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8390"/>
                </a:solidFill>
                <a:latin typeface="Aptos"/>
              </a:rPr>
              <a:t>Each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834640"/>
            <a:ext cx="3218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JWT Filter validates signature &amp; expiry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273552"/>
            <a:ext cx="54864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328416"/>
            <a:ext cx="329184" cy="493776"/>
          </a:xfrm>
          <a:prstGeom prst="roundRect">
            <a:avLst/>
          </a:prstGeom>
          <a:solidFill>
            <a:srgbClr val="00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" y="3456432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328416"/>
            <a:ext cx="475488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338328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6A8"/>
                </a:solidFill>
                <a:latin typeface="Aptos"/>
              </a:rPr>
              <a:t>Role 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383280"/>
            <a:ext cx="3218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@PreAuthorize: USER vs ADMIN per route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822192"/>
            <a:ext cx="54864" cy="54864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7200" y="3877056"/>
            <a:ext cx="329184" cy="49377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" y="4005072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77056"/>
            <a:ext cx="475488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" y="39319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87"/>
                </a:solidFill>
                <a:latin typeface="Aptos"/>
              </a:rPr>
              <a:t>Sign 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3931920"/>
            <a:ext cx="3218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Token blacklisted, future calls rejected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59"/>
            <a:ext cx="5120640" cy="457200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3504" y="4517136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Validator: mobile 10-digit ·  DOB age </a:t>
            </a:r>
            <a:r>
              <a:rPr lang="en-US" sz="1000" b="0" i="0" dirty="0">
                <a:solidFill>
                  <a:srgbClr val="53565A"/>
                </a:solidFill>
                <a:latin typeface="Aptos"/>
              </a:rPr>
              <a:t> &gt;=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18  ·  email format  ·  password strength (8+ chars)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1463040"/>
            <a:ext cx="45720" cy="4389120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97880" y="146304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API ENDPOINTS BY ACCESS TIER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1682496"/>
            <a:ext cx="5833872" cy="329184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35040" y="174650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PUBLIC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7536" y="1746504"/>
            <a:ext cx="3895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ptos"/>
              </a:rPr>
              <a:t>No Auth Required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97880" y="2011680"/>
            <a:ext cx="5833872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998464" y="2167128"/>
            <a:ext cx="54864" cy="146304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08192" y="2103120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/signUp  (POST)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33104" y="2167128"/>
            <a:ext cx="54864" cy="146304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42832" y="2103120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/signIn  (POST)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98464" y="2496312"/>
            <a:ext cx="54864" cy="146304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08192" y="2432304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/BusSearch  (GET)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3104" y="2496312"/>
            <a:ext cx="54864" cy="146304"/>
          </a:xfrm>
          <a:prstGeom prst="roundRect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942832" y="2432304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/admin login  (POST)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97880" y="2852928"/>
            <a:ext cx="5833872" cy="32918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35040" y="291693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USER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7536" y="2916936"/>
            <a:ext cx="3895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ptos"/>
              </a:rPr>
              <a:t>JWT Bearer Token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97880" y="3182112"/>
            <a:ext cx="5833872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998464" y="3337560"/>
            <a:ext cx="54864" cy="14630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08192" y="3273552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/seatBlocking  (POST)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33104" y="3337560"/>
            <a:ext cx="54864" cy="14630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942832" y="3273552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/passengerDetails  (POST)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98464" y="3666744"/>
            <a:ext cx="54864" cy="14630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108192" y="3602736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/history  (GET)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33104" y="3666744"/>
            <a:ext cx="54864" cy="14630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942832" y="3602736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/cancelTicket  (DELETE)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98464" y="3995928"/>
            <a:ext cx="54864" cy="146304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08192" y="3931920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/signOut  (POST)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97880" y="4352544"/>
            <a:ext cx="5833872" cy="32918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035040" y="441655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ADMIN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7536" y="4416552"/>
            <a:ext cx="3895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ptos"/>
              </a:rPr>
              <a:t>@PreAuthorize ADMIN role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97880" y="4681728"/>
            <a:ext cx="5833872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998464" y="4837176"/>
            <a:ext cx="54864" cy="14630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108192" y="4773168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/addBus  (POST)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833104" y="4837176"/>
            <a:ext cx="54864" cy="14630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42832" y="4773168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/updateBus/{id}  (PUT)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98464" y="5166360"/>
            <a:ext cx="54864" cy="14630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08192" y="5102352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/deleteBus/{id}  (DELETE)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33104" y="5166360"/>
            <a:ext cx="54864" cy="14630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942832" y="5102352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/getAllBuses  (GET)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998464" y="5495544"/>
            <a:ext cx="54864" cy="146304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08192" y="5431536"/>
            <a:ext cx="2688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/adminSignOut  (POST)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>
                <a:latin typeface="Aptos"/>
              </a:rPr>
              <a:t>Database Design  ·  </a:t>
            </a:r>
            <a:r>
              <a:rPr lang="en-US" dirty="0">
                <a:latin typeface="Aptos"/>
              </a:rPr>
              <a:t>Memurai</a:t>
            </a:r>
            <a:r>
              <a:rPr dirty="0">
                <a:latin typeface="Aptos"/>
              </a:rPr>
              <a:t> Caching Strategy  ·  Cache Annotations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Five normalized tables and per-region Redis TTLs underpin data integrity and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DATABASE SCHEMA (5 TABLES)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73936"/>
            <a:ext cx="1408176" cy="566928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12064" y="192024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1952" y="1773936"/>
            <a:ext cx="4133087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93392" y="1883664"/>
            <a:ext cx="3950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id · name · mobileNumber (UQ) · email (UQ) · dateOfBirth · address </a:t>
            </a:r>
            <a:endParaRPr lang="en-US" sz="1000" b="0" i="0" dirty="0">
              <a:solidFill>
                <a:srgbClr val="53565A"/>
              </a:solidFill>
              <a:latin typeface="Aptos"/>
            </a:endParaRPr>
          </a:p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· password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340864"/>
            <a:ext cx="54864" cy="45720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2386584"/>
            <a:ext cx="1408176" cy="566928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" y="2532888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2386584"/>
            <a:ext cx="4133087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93392" y="2496312"/>
            <a:ext cx="39502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id · email (UNIQUE) · password (BCrypt hashed)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953512"/>
            <a:ext cx="54864" cy="45720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2999232"/>
            <a:ext cx="1408176" cy="566928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3145536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bus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01952" y="2999232"/>
            <a:ext cx="4133087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93392" y="3108960"/>
            <a:ext cx="3950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53565A"/>
                </a:solidFill>
                <a:latin typeface="Aptos"/>
              </a:rPr>
              <a:t>busId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travelsName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fromLocation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toLocation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dateOfJourney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</a:t>
            </a:r>
            <a:endParaRPr lang="en-US" sz="1000" b="0" i="0" dirty="0">
              <a:solidFill>
                <a:srgbClr val="53565A"/>
              </a:solidFill>
              <a:latin typeface="Aptos"/>
            </a:endParaRPr>
          </a:p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totalSeats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availableSeatsCount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price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566160"/>
            <a:ext cx="54864" cy="45720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3611879"/>
            <a:ext cx="1408176" cy="566928"/>
          </a:xfrm>
          <a:prstGeom prst="roundRect">
            <a:avLst/>
          </a:prstGeom>
          <a:solidFill>
            <a:srgbClr val="00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" y="3758183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seat_blocking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1952" y="3611879"/>
            <a:ext cx="4133087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93392" y="3721607"/>
            <a:ext cx="3950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id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busId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seatNumber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userId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blockedAt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expiresAt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isConfirmed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 |  UNIQUE(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busId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,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seatNumber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178807"/>
            <a:ext cx="54864" cy="45720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7200" y="4224528"/>
            <a:ext cx="1408176" cy="566928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37083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passenger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01952" y="4224528"/>
            <a:ext cx="4133087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993392" y="4334256"/>
            <a:ext cx="39502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53565A"/>
                </a:solidFill>
                <a:latin typeface="Aptos"/>
              </a:rPr>
              <a:t>passengerId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blockingId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(UQ FK)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busId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seatNumber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· name · age </a:t>
            </a:r>
            <a:endParaRPr lang="en-US" sz="1000" b="0" i="0" dirty="0">
              <a:solidFill>
                <a:srgbClr val="53565A"/>
              </a:solidFill>
              <a:latin typeface="Aptos"/>
            </a:endParaRPr>
          </a:p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· gender · mobileNumber · price · </a:t>
            </a:r>
            <a:r>
              <a:rPr sz="1000" b="0" i="0" dirty="0" err="1">
                <a:solidFill>
                  <a:srgbClr val="53565A"/>
                </a:solidFill>
                <a:latin typeface="Aptos"/>
              </a:rPr>
              <a:t>bookedAt</a:t>
            </a:r>
            <a:endParaRPr sz="1000" b="0" i="0" dirty="0">
              <a:solidFill>
                <a:srgbClr val="53565A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097280" y="4791456"/>
            <a:ext cx="54864" cy="45720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1127455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dirty="0">
                <a:solidFill>
                  <a:srgbClr val="97999B"/>
                </a:solidFill>
                <a:latin typeface="Aptos"/>
              </a:rPr>
              <a:t>Schema </a:t>
            </a:r>
            <a:r>
              <a:rPr lang="en-US" sz="800" dirty="0">
                <a:solidFill>
                  <a:srgbClr val="97999B"/>
                </a:solidFill>
                <a:latin typeface="Aptos"/>
              </a:rPr>
              <a:t>---</a:t>
            </a:r>
            <a:r>
              <a:rPr sz="800" b="0" i="0" dirty="0">
                <a:solidFill>
                  <a:srgbClr val="97999B"/>
                </a:solidFill>
                <a:latin typeface="Aptos"/>
              </a:rPr>
              <a:t> JPA entities: User.java, Bus.java, SeatBlocking.java, Passenger.java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536192"/>
            <a:ext cx="45720" cy="4389120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91072" y="153619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REDIS CACHING 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1828800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buses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35824" y="1847088"/>
            <a:ext cx="640080" cy="274320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54112" y="1847088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15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49056" y="1938528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449056" y="1938528"/>
            <a:ext cx="3474720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91072" y="2084831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999B"/>
                </a:solidFill>
                <a:latin typeface="Aptos"/>
              </a:rPr>
              <a:t>Bus search results by route &amp; 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2340864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allBuses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35824" y="2359152"/>
            <a:ext cx="640080" cy="274320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54112" y="2359152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15 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49056" y="2450592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49056" y="2450592"/>
            <a:ext cx="3474720" cy="12801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91072" y="2596896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999B"/>
                </a:solidFill>
                <a:latin typeface="Aptos"/>
              </a:rPr>
              <a:t>All buses list for admin views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2852928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bookingHistory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35824" y="2871216"/>
            <a:ext cx="640080" cy="274320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54112" y="2871216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15 min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49056" y="2962656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449056" y="2962656"/>
            <a:ext cx="3474720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91072" y="3108960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999B"/>
                </a:solidFill>
                <a:latin typeface="Aptos"/>
              </a:rPr>
              <a:t>Per-user confirmed booking history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1072" y="33649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seatHolds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35824" y="3383280"/>
            <a:ext cx="640080" cy="274320"/>
          </a:xfrm>
          <a:prstGeom prst="roundRect">
            <a:avLst/>
          </a:prstGeom>
          <a:solidFill>
            <a:srgbClr val="00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754112" y="3383280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9 min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49056" y="3474720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8449056" y="3474720"/>
            <a:ext cx="2084831" cy="128016"/>
          </a:xfrm>
          <a:prstGeom prst="roundRect">
            <a:avLst/>
          </a:prstGeom>
          <a:solidFill>
            <a:srgbClr val="00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91072" y="3621024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999B"/>
                </a:solidFill>
                <a:latin typeface="Aptos"/>
              </a:rPr>
              <a:t>Active seat-blocking hold records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1072" y="3877055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passenger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35824" y="3895344"/>
            <a:ext cx="640080" cy="274320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754112" y="3895344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9 min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49056" y="3986783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8449056" y="3986783"/>
            <a:ext cx="2084831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91072" y="4133087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999B"/>
                </a:solidFill>
                <a:latin typeface="Aptos"/>
              </a:rPr>
              <a:t>Passenger confirmation details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1072" y="4389120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ticketDetails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35824" y="4407408"/>
            <a:ext cx="640080" cy="274320"/>
          </a:xfrm>
          <a:prstGeom prst="roundRect">
            <a:avLst/>
          </a:prstGeom>
          <a:solidFill>
            <a:srgbClr val="007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54112" y="4407408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9 min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49056" y="4498848"/>
            <a:ext cx="3474720" cy="128016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449056" y="4498848"/>
            <a:ext cx="2084831" cy="128016"/>
          </a:xfrm>
          <a:prstGeom prst="roundRect">
            <a:avLst/>
          </a:prstGeom>
          <a:solidFill>
            <a:srgbClr val="007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91072" y="4645152"/>
            <a:ext cx="544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97999B"/>
                </a:solidFill>
                <a:latin typeface="Aptos"/>
              </a:rPr>
              <a:t>Ticket lookup </a:t>
            </a:r>
            <a:r>
              <a:rPr lang="en-US" sz="1000" i="1" dirty="0">
                <a:solidFill>
                  <a:srgbClr val="97999B"/>
                </a:solidFill>
                <a:latin typeface="Aptos"/>
              </a:rPr>
              <a:t>------</a:t>
            </a:r>
            <a:r>
              <a:rPr sz="1000" b="0" i="1" dirty="0">
                <a:solidFill>
                  <a:srgbClr val="97999B"/>
                </a:solidFill>
                <a:latin typeface="Aptos"/>
              </a:rPr>
              <a:t> evicted on cancel/delete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91072" y="4901184"/>
            <a:ext cx="5440680" cy="329184"/>
          </a:xfrm>
          <a:prstGeom prst="round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19088" y="4956048"/>
            <a:ext cx="5212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@Cacheable  ·  @CachePut  ·  @CacheEvict  ·  @Caching  combined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Six steps take a passenger from registration to confirmed booking in minutes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16735" y="1792224"/>
            <a:ext cx="9555480" cy="36576"/>
          </a:xfrm>
          <a:prstGeom prst="roundRect">
            <a:avLst/>
          </a:prstGeom>
          <a:solidFill>
            <a:srgbClr val="979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8991" y="1572768"/>
            <a:ext cx="475488" cy="475488"/>
          </a:xfrm>
          <a:prstGeom prst="ellipse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7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6BC25"/>
                </a:solidFill>
                <a:latin typeface="Aptos"/>
              </a:rPr>
              <a:t>Register
/ Sign 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7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POST /signUp
or /signIn
JWT returned</a:t>
            </a:r>
          </a:p>
        </p:txBody>
      </p:sp>
      <p:sp>
        <p:nvSpPr>
          <p:cNvPr id="8" name="Oval 7"/>
          <p:cNvSpPr/>
          <p:nvPr/>
        </p:nvSpPr>
        <p:spPr>
          <a:xfrm>
            <a:off x="2990087" y="1572768"/>
            <a:ext cx="475488" cy="475488"/>
          </a:xfrm>
          <a:prstGeom prst="ellipse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0863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890D"/>
                </a:solidFill>
                <a:latin typeface="Aptos"/>
              </a:rPr>
              <a:t>Search
Buses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3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2303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GET /BusSearch
by route &amp; date
cached results</a:t>
            </a:r>
          </a:p>
        </p:txBody>
      </p:sp>
      <p:sp>
        <p:nvSpPr>
          <p:cNvPr id="12" name="Oval 11"/>
          <p:cNvSpPr/>
          <p:nvPr/>
        </p:nvSpPr>
        <p:spPr>
          <a:xfrm>
            <a:off x="4901183" y="1572768"/>
            <a:ext cx="475488" cy="475488"/>
          </a:xfrm>
          <a:prstGeom prst="ellipse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8390"/>
                </a:solidFill>
                <a:latin typeface="Aptos"/>
              </a:rPr>
              <a:t>Block
a Seat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3399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POST /seatBlocking
10-min hold
blockingId issued</a:t>
            </a:r>
          </a:p>
        </p:txBody>
      </p:sp>
      <p:sp>
        <p:nvSpPr>
          <p:cNvPr id="16" name="Oval 15"/>
          <p:cNvSpPr/>
          <p:nvPr/>
        </p:nvSpPr>
        <p:spPr>
          <a:xfrm>
            <a:off x="6812279" y="1572768"/>
            <a:ext cx="475488" cy="475488"/>
          </a:xfrm>
          <a:prstGeom prst="ellipse">
            <a:avLst/>
          </a:prstGeom>
          <a:solidFill>
            <a:srgbClr val="00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6A8"/>
                </a:solidFill>
                <a:latin typeface="Aptos"/>
              </a:rPr>
              <a:t>Confirm
Booking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54495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POST /passengerDetails
booking confirmed
passengerId issued</a:t>
            </a:r>
          </a:p>
        </p:txBody>
      </p:sp>
      <p:sp>
        <p:nvSpPr>
          <p:cNvPr id="20" name="Oval 19"/>
          <p:cNvSpPr/>
          <p:nvPr/>
        </p:nvSpPr>
        <p:spPr>
          <a:xfrm>
            <a:off x="8723376" y="1572768"/>
            <a:ext cx="475488" cy="475488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1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5587"/>
                </a:solidFill>
                <a:latin typeface="Aptos"/>
              </a:rPr>
              <a:t>View
History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1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65591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GET /history
all bookings
for this user</a:t>
            </a:r>
          </a:p>
        </p:txBody>
      </p:sp>
      <p:sp>
        <p:nvSpPr>
          <p:cNvPr id="24" name="Oval 23"/>
          <p:cNvSpPr/>
          <p:nvPr/>
        </p:nvSpPr>
        <p:spPr>
          <a:xfrm>
            <a:off x="10634472" y="1572768"/>
            <a:ext cx="475488" cy="475488"/>
          </a:xfrm>
          <a:prstGeom prst="ellipse">
            <a:avLst/>
          </a:prstGeom>
          <a:solidFill>
            <a:srgbClr val="535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85247" y="2139696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3565A"/>
                </a:solidFill>
                <a:latin typeface="Aptos"/>
              </a:rPr>
              <a:t>Cancel
if Needed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85247" y="2651760"/>
            <a:ext cx="1773936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76687" y="2724912"/>
            <a:ext cx="159105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3565A"/>
                </a:solidFill>
                <a:latin typeface="Aptos"/>
              </a:rPr>
              <a:t>DELETE /cancelTicket
atomic rollback
seat freed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858768"/>
            <a:ext cx="11274552" cy="457200"/>
          </a:xfrm>
          <a:prstGeom prst="roundRect">
            <a:avLst/>
          </a:prstGeom>
          <a:solidFill>
            <a:srgbClr val="1C3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08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Aptos"/>
              </a:rPr>
              <a:t>Admin Journey: POST /admin  </a:t>
            </a:r>
            <a:r>
              <a:rPr lang="en-US" sz="1000" dirty="0">
                <a:solidFill>
                  <a:srgbClr val="FFFFFF"/>
                </a:solidFill>
                <a:latin typeface="Aptos"/>
              </a:rPr>
              <a:t>at</a:t>
            </a:r>
            <a:r>
              <a:rPr sz="1000" b="0" i="0" dirty="0">
                <a:solidFill>
                  <a:srgbClr val="FFFFFF"/>
                </a:solidFill>
                <a:latin typeface="Aptos"/>
              </a:rPr>
              <a:t>  /</a:t>
            </a:r>
            <a:r>
              <a:rPr sz="1000" b="0" i="0" dirty="0" err="1">
                <a:solidFill>
                  <a:srgbClr val="FFFFFF"/>
                </a:solidFill>
                <a:latin typeface="Aptos"/>
              </a:rPr>
              <a:t>addBus</a:t>
            </a:r>
            <a:r>
              <a:rPr sz="1000" b="0" i="0" dirty="0">
                <a:solidFill>
                  <a:srgbClr val="FFFFFF"/>
                </a:solidFill>
                <a:latin typeface="Aptos"/>
              </a:rPr>
              <a:t> · /</a:t>
            </a:r>
            <a:r>
              <a:rPr sz="1000" b="0" i="0" dirty="0" err="1">
                <a:solidFill>
                  <a:srgbClr val="FFFFFF"/>
                </a:solidFill>
                <a:latin typeface="Aptos"/>
              </a:rPr>
              <a:t>updateBus</a:t>
            </a:r>
            <a:r>
              <a:rPr sz="1000" b="0" i="0" dirty="0">
                <a:solidFill>
                  <a:srgbClr val="FFFFFF"/>
                </a:solidFill>
                <a:latin typeface="Aptos"/>
              </a:rPr>
              <a:t>/{id} · /</a:t>
            </a:r>
            <a:r>
              <a:rPr sz="1000" b="0" i="0" dirty="0" err="1">
                <a:solidFill>
                  <a:srgbClr val="FFFFFF"/>
                </a:solidFill>
                <a:latin typeface="Aptos"/>
              </a:rPr>
              <a:t>deleteBus</a:t>
            </a:r>
            <a:r>
              <a:rPr sz="1000" b="0" i="0" dirty="0">
                <a:solidFill>
                  <a:srgbClr val="FFFFFF"/>
                </a:solidFill>
                <a:latin typeface="Aptos"/>
              </a:rPr>
              <a:t>/{id} · /</a:t>
            </a:r>
            <a:r>
              <a:rPr sz="1000" b="0" i="0" dirty="0" err="1">
                <a:solidFill>
                  <a:srgbClr val="FFFFFF"/>
                </a:solidFill>
                <a:latin typeface="Aptos"/>
              </a:rPr>
              <a:t>getAllBuses</a:t>
            </a:r>
            <a:r>
              <a:rPr sz="1000" b="0" i="0" dirty="0">
                <a:solidFill>
                  <a:srgbClr val="FFFFFF"/>
                </a:solidFill>
                <a:latin typeface="Aptos"/>
              </a:rPr>
              <a:t> · /</a:t>
            </a:r>
            <a:r>
              <a:rPr sz="1000" b="0" i="0" dirty="0" err="1">
                <a:solidFill>
                  <a:srgbClr val="FFFFFF"/>
                </a:solidFill>
                <a:latin typeface="Aptos"/>
              </a:rPr>
              <a:t>adminSignOut</a:t>
            </a:r>
            <a:endParaRPr sz="1000" b="0" i="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>
                <a:latin typeface="Aptos"/>
              </a:rPr>
              <a:t>Quality &amp; Reliability  ·  Three-Phase Roadmap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ptos"/>
              </a:rPr>
              <a:t>Production-ready quality with a clear roadmap to full-stack cloud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36192"/>
            <a:ext cx="2688336" cy="4937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Centralized
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29967"/>
            <a:ext cx="2688336" cy="11521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3504" y="2203703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39696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Name, email, mobile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2514599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450591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3565A"/>
                </a:solidFill>
                <a:latin typeface="Aptos"/>
              </a:rPr>
              <a:t>DOB age </a:t>
            </a:r>
            <a:r>
              <a:rPr lang="en-US" sz="1000" dirty="0">
                <a:solidFill>
                  <a:srgbClr val="53565A"/>
                </a:solidFill>
                <a:latin typeface="Aptos"/>
              </a:rPr>
              <a:t>a</a:t>
            </a:r>
            <a:r>
              <a:rPr lang="en-US" sz="1000" b="0" i="0" dirty="0">
                <a:solidFill>
                  <a:srgbClr val="53565A"/>
                </a:solidFill>
                <a:latin typeface="Aptos"/>
              </a:rPr>
              <a:t>bove</a:t>
            </a:r>
            <a:r>
              <a:rPr sz="1000" b="0" i="0" dirty="0">
                <a:solidFill>
                  <a:srgbClr val="53565A"/>
                </a:solidFill>
                <a:latin typeface="Aptos"/>
              </a:rPr>
              <a:t> 18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825495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761487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Strong password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536192"/>
            <a:ext cx="2688336" cy="49377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0712" y="1591056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Exception
Handling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2029967"/>
            <a:ext cx="2688336" cy="11521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65576" y="2203703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93591" y="2139696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GlobalExceptionHandler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2514599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591" y="2450591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HTTP 400/401/403/404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5576" y="2825495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3591" y="2761487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409 Conflict / 410 Gone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536192"/>
            <a:ext cx="2688336" cy="49377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72783" y="1591056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Concurrency
Safety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2029967"/>
            <a:ext cx="2688336" cy="11521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327648" y="2203703"/>
            <a:ext cx="54864" cy="12801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139696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UNIQUE(busId, seatNumber)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7648" y="2514599"/>
            <a:ext cx="54864" cy="12801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55664" y="2450591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Prevents double-booking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2825495"/>
            <a:ext cx="54864" cy="128016"/>
          </a:xfrm>
          <a:prstGeom prst="roundRect">
            <a:avLst/>
          </a:prstGeom>
          <a:solidFill>
            <a:srgbClr val="268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55664" y="2761487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DB-level enforcement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536192"/>
            <a:ext cx="2688336" cy="49377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0" y="1591056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Atomic
Reliability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2029967"/>
            <a:ext cx="2688336" cy="11521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98864" y="2203703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26880" y="2139696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@Transactional cancel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98864" y="2514599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2450591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@Scheduled 60s expiry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98864" y="2825495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26880" y="2761487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Unit tests: Validator + Redis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3438144"/>
            <a:ext cx="11274552" cy="365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351129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3565A"/>
                </a:solidFill>
                <a:latin typeface="Aptos"/>
              </a:rPr>
              <a:t>ROADMAP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749039"/>
            <a:ext cx="3547872" cy="49377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" y="3803903"/>
            <a:ext cx="3328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Phase 1
Near-Term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242816"/>
            <a:ext cx="3547872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03504" y="4398264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33425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Payment gateway integration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4709159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520" y="46451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Email/SMS booking notifications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504" y="5020055"/>
            <a:ext cx="54864" cy="128016"/>
          </a:xfrm>
          <a:prstGeom prst="round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1520" y="495604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React / Angular frontend UI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33087" y="3749039"/>
            <a:ext cx="3547872" cy="49377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242816" y="3803903"/>
            <a:ext cx="3328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Phase 2
Mid-Term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33087" y="4242816"/>
            <a:ext cx="3547872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4279392" y="4398264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407407" y="433425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Microservices decomposition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79392" y="4709159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07407" y="46451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Docker + Kubernetes deployment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79392" y="5020055"/>
            <a:ext cx="54864" cy="128016"/>
          </a:xfrm>
          <a:prstGeom prst="roundRect">
            <a:avLst/>
          </a:prstGeom>
          <a:solidFill>
            <a:srgbClr val="0D83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07407" y="495604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CI/CD pipeline (GitHub Actions)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08975" y="3749039"/>
            <a:ext cx="3547872" cy="49377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918703" y="3803903"/>
            <a:ext cx="3328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Phase 3
Long-Term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08975" y="4242816"/>
            <a:ext cx="3547872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955279" y="4398264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083296" y="433425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Load testing &amp; benchmarking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4709159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083296" y="46451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Multi-region DB replication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55279" y="5020055"/>
            <a:ext cx="54864" cy="128016"/>
          </a:xfrm>
          <a:prstGeom prst="round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083296" y="495604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3565A"/>
                </a:solidFill>
                <a:latin typeface="Aptos"/>
              </a:rPr>
              <a:t>APM &amp; distributed tracing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548640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97999B"/>
                </a:solidFill>
                <a:latin typeface="Aptos"/>
              </a:rPr>
              <a:t>Copyright © 2026 Deloitte Development LLC. All rights reserved.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_Brand_Theme">
  <a:themeElements>
    <a:clrScheme name="Custom 1">
      <a:dk1>
        <a:sysClr val="windowText" lastClr="000000"/>
      </a:dk1>
      <a:lt1>
        <a:sysClr val="window" lastClr="FFFFFF"/>
      </a:lt1>
      <a:dk2>
        <a:srgbClr val="222222"/>
      </a:dk2>
      <a:lt2>
        <a:srgbClr val="E6E6E6"/>
      </a:lt2>
      <a:accent1>
        <a:srgbClr val="86BC25"/>
      </a:accent1>
      <a:accent2>
        <a:srgbClr val="26890D"/>
      </a:accent2>
      <a:accent3>
        <a:srgbClr val="046A38"/>
      </a:accent3>
      <a:accent4>
        <a:srgbClr val="1C3D26"/>
      </a:accent4>
      <a:accent5>
        <a:srgbClr val="0DF200"/>
      </a:accent5>
      <a:accent6>
        <a:srgbClr val="F1F6E4"/>
      </a:accent6>
      <a:hlink>
        <a:srgbClr val="26890D"/>
      </a:hlink>
      <a:folHlink>
        <a:srgbClr val="7F7F7F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5">
      <a:srgbClr val="009A44"/>
    </a:custClr>
    <a:custClr name="Green 4">
      <a:srgbClr val="43B02A"/>
    </a:custClr>
    <a:custClr name="Green 2">
      <a:srgbClr val="C4D600"/>
    </a:custClr>
    <a:custClr name="Green 1">
      <a:srgbClr val="E3E48D"/>
    </a:custClr>
    <a:custClr name="Teal 8">
      <a:srgbClr val="0D8390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8">
      <a:srgbClr val="007CB0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Bright Teal">
      <a:srgbClr val="3EFAC5"/>
    </a:custClr>
    <a:custClr name="Bright Blue">
      <a:srgbClr val="33F0FF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Brand_Theme" id="{917CC780-C041-4F84-B057-DE63A8CDEF25}" vid="{5A16EDA9-025E-49B0-B403-896FAE83D1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7C0B5E8C28FBB4DB6BB6E6547CA8A70" ma:contentTypeVersion="14" ma:contentTypeDescription="Create a new document." ma:contentTypeScope="" ma:versionID="4c6617896dbd6066d418e5883b6ed562">
  <xsd:schema xmlns:xsd="http://www.w3.org/2001/XMLSchema" xmlns:xs="http://www.w3.org/2001/XMLSchema" xmlns:p="http://schemas.microsoft.com/office/2006/metadata/properties" xmlns:ns3="8f1e2369-70da-40d7-b978-99d0855b91b8" xmlns:ns4="8ee28f6f-733e-446a-845c-015b8614e1f7" targetNamespace="http://schemas.microsoft.com/office/2006/metadata/properties" ma:root="true" ma:fieldsID="7beb73ffafaeb73ea273bd43962ac528" ns3:_="" ns4:_="">
    <xsd:import namespace="8f1e2369-70da-40d7-b978-99d0855b91b8"/>
    <xsd:import namespace="8ee28f6f-733e-446a-845c-015b8614e1f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1e2369-70da-40d7-b978-99d0855b91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e28f6f-733e-446a-845c-015b8614e1f7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BF235D-5BAD-4A08-AEE0-5E29BE15689F}">
  <ds:schemaRefs>
    <ds:schemaRef ds:uri="http://schemas.microsoft.com/office/2006/documentManagement/types"/>
    <ds:schemaRef ds:uri="8f1e2369-70da-40d7-b978-99d0855b91b8"/>
    <ds:schemaRef ds:uri="8ee28f6f-733e-446a-845c-015b8614e1f7"/>
    <ds:schemaRef ds:uri="http://www.w3.org/XML/1998/namespace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10B2FCBC-AEA4-4167-AEBB-3951BFAB54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1e2369-70da-40d7-b978-99d0855b91b8"/>
    <ds:schemaRef ds:uri="8ee28f6f-733e-446a-845c-015b8614e1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Deloitte_Brand_Theme_102224</Template>
  <TotalTime>0</TotalTime>
  <Words>1141</Words>
  <Application>Microsoft Office PowerPoint</Application>
  <PresentationFormat>Widescreen</PresentationFormat>
  <Paragraphs>198</Paragraphs>
  <Slides>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Open Sans</vt:lpstr>
      <vt:lpstr>Verdana</vt:lpstr>
      <vt:lpstr>Deloitte_Brand_Theme</vt:lpstr>
      <vt:lpstr>think-cell Slide</vt:lpstr>
      <vt:lpstr>RedBus as a Bus Ticket Booking Platform</vt:lpstr>
      <vt:lpstr>A unified booking API eliminates fragmented, unsafe bus reservation experiences</vt:lpstr>
      <vt:lpstr>A four-tier layered architecture backed by an enterprise Java stack</vt:lpstr>
      <vt:lpstr>Four core modules cover the complete bus-booking lifecycle</vt:lpstr>
      <vt:lpstr>Stateless JWT security and 15 role-guarded endpoints protect every operation</vt:lpstr>
      <vt:lpstr>Five normalized tables and per-region Redis TTLs underpin data integrity and speed</vt:lpstr>
      <vt:lpstr>Six steps take a passenger from registration to confirmed booking in minutes</vt:lpstr>
      <vt:lpstr>Production-ready quality with a clear roadmap to full-stack cloud deployment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/>
  <cp:lastModifiedBy/>
  <cp:revision>2</cp:revision>
  <dcterms:created xsi:type="dcterms:W3CDTF">2020-04-09T19:50:51Z</dcterms:created>
  <dcterms:modified xsi:type="dcterms:W3CDTF">2026-06-30T04:07:21Z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0x01010097C0B5E8C28FBB4DB6BB6E6547CA8A70</vt:lpwstr>
  </property>
</Properties>
</file>